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53E3E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600" kern="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BUDDYGAME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120 调度台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53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急救调度模拟训练系统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71600" y="29260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“每一次调度，都是一场与时间的赛跑”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74720" y="3566160"/>
            <a:ext cx="2194560" cy="27432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BuddyGame 开发团队  |  2025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53E3E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行业痛点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当前急救调度培训体系面临的挑战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987552"/>
            <a:ext cx="548640" cy="36576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536192"/>
            <a:ext cx="411480" cy="411480"/>
          </a:xfrm>
          <a:prstGeom prst="ellipse">
            <a:avLst/>
          </a:prstGeom>
          <a:solidFill>
            <a:srgbClr val="E53E3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60020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463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训练机会稀缺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43000" y="17830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真实调度场景学习周期长，实习生难以积累经验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48640" y="2404872"/>
            <a:ext cx="411480" cy="411480"/>
          </a:xfrm>
          <a:prstGeom prst="ellipse">
            <a:avLst/>
          </a:prstGeom>
          <a:solidFill>
            <a:srgbClr val="E53E3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246888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43000" y="2331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考核标准模糊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143000" y="26517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缺乏客观量化评估体系，培训效果难以衡量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48640" y="3273552"/>
            <a:ext cx="411480" cy="411480"/>
          </a:xfrm>
          <a:prstGeom prst="ellipse">
            <a:avLst/>
          </a:prstGeom>
          <a:solidFill>
            <a:srgbClr val="E53E3E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333756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43000" y="3200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师资力量不均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1143000" y="35204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优质导师主要集中在发达地区，资源分配差异大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548640" y="4142232"/>
            <a:ext cx="411480" cy="411480"/>
          </a:xfrm>
          <a:prstGeom prst="ellipse">
            <a:avLst/>
          </a:prstGeom>
          <a:solidFill>
            <a:srgbClr val="E53E3E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" y="4206240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143000" y="4069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心理压力巨大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1143000" y="43891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真实环境试错成本高，一次失误可能危及生命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5029200" y="1463040"/>
            <a:ext cx="178308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5029200" y="1463040"/>
            <a:ext cx="1783080" cy="54864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24" name="Text 18"/>
          <p:cNvSpPr/>
          <p:nvPr/>
        </p:nvSpPr>
        <p:spPr>
          <a:xfrm>
            <a:off x="5029200" y="178308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5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2,000+</a:t>
            </a:r>
            <a:endParaRPr lang="en-US" sz="3000" dirty="0"/>
          </a:p>
        </p:txBody>
      </p:sp>
      <p:sp>
        <p:nvSpPr>
          <p:cNvPr id="25" name="Text 19"/>
          <p:cNvSpPr/>
          <p:nvPr/>
        </p:nvSpPr>
        <p:spPr>
          <a:xfrm>
            <a:off x="5166360" y="237744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通/年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全国院前急救电话量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5166360" y="297180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每秒接听需求，调度员必须在 60 秒内完成问询分诊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5166360" y="35204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高压环境下快速判定病情等级是调度员核心能力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6995160" y="1463040"/>
            <a:ext cx="178308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6995160" y="1463040"/>
            <a:ext cx="1783080" cy="54864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30" name="Text 24"/>
          <p:cNvSpPr/>
          <p:nvPr/>
        </p:nvSpPr>
        <p:spPr>
          <a:xfrm>
            <a:off x="6995160" y="178308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5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&lt;15%</a:t>
            </a:r>
            <a:endParaRPr lang="en-US" sz="3000" dirty="0"/>
          </a:p>
        </p:txBody>
      </p:sp>
      <p:sp>
        <p:nvSpPr>
          <p:cNvPr id="31" name="Text 25"/>
          <p:cNvSpPr/>
          <p:nvPr/>
        </p:nvSpPr>
        <p:spPr>
          <a:xfrm>
            <a:off x="7132320" y="237744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培训覆盖率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模拟训练普及率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7132320" y="297180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多数地区依赖传统跟班见习，缺乏系统性模拟训练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7132320" y="35204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模拟训练可显著提升调度员首次响应准确率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产品概述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一款以 MPDS 标准为核心的急救调度模拟训练系统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987552"/>
            <a:ext cx="548640" cy="36576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417320"/>
            <a:ext cx="804672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17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基于真实 MPDS 急救调度协议的精简模拟，融合语音交互与 Roguelike 技能成长机制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246888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148840"/>
            <a:ext cx="54864" cy="233172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0" name="Shape 8"/>
          <p:cNvSpPr/>
          <p:nvPr/>
        </p:nvSpPr>
        <p:spPr>
          <a:xfrm>
            <a:off x="1508760" y="2377440"/>
            <a:ext cx="548640" cy="548640"/>
          </a:xfrm>
          <a:prstGeom prst="ellipse">
            <a:avLst/>
          </a:prstGeom>
          <a:solidFill>
            <a:srgbClr val="E53E3E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1912" y="2450592"/>
            <a:ext cx="402336" cy="40233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85800" y="30175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MPDS 标准问询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31520" y="342900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内置 33 种急救场景，遵循 MPDS 5 步问询协议，覆盖从接听到派车的完整调度流程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291840" y="2148840"/>
            <a:ext cx="246888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91840" y="2148840"/>
            <a:ext cx="54864" cy="233172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6" name="Shape 13"/>
          <p:cNvSpPr/>
          <p:nvPr/>
        </p:nvSpPr>
        <p:spPr>
          <a:xfrm>
            <a:off x="4251960" y="2377440"/>
            <a:ext cx="548640" cy="548640"/>
          </a:xfrm>
          <a:prstGeom prst="ellipse">
            <a:avLst/>
          </a:prstGeom>
          <a:solidFill>
            <a:srgbClr val="E53E3E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5112" y="2450592"/>
            <a:ext cx="402336" cy="40233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429000" y="30175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语音交互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3474720" y="342900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集成火山引擎 TTS 语音合成，来电者压力值动态变化，模拟真实通话紧张感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035040" y="2148840"/>
            <a:ext cx="246888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035040" y="2148840"/>
            <a:ext cx="54864" cy="233172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22" name="Shape 18"/>
          <p:cNvSpPr/>
          <p:nvPr/>
        </p:nvSpPr>
        <p:spPr>
          <a:xfrm>
            <a:off x="6995160" y="2377440"/>
            <a:ext cx="548640" cy="548640"/>
          </a:xfrm>
          <a:prstGeom prst="ellipse">
            <a:avLst/>
          </a:prstGeom>
          <a:solidFill>
            <a:srgbClr val="E53E3E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2450592"/>
            <a:ext cx="402336" cy="40233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172200" y="30175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Roguelike 成长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6217920" y="342900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技能卡驱动角色成长，5 维评分系统（满分 100/通），多结局分支与成就系统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核心玩法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遵循 MPDS 标准协议的完整调度流程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987552"/>
            <a:ext cx="548640" cy="36576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417320"/>
            <a:ext cx="137160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78408" y="1554480"/>
            <a:ext cx="329184" cy="329184"/>
          </a:xfrm>
          <a:prstGeom prst="ellipse">
            <a:avLst/>
          </a:prstGeom>
          <a:solidFill>
            <a:srgbClr val="E53E3E"/>
          </a:solidFill>
          <a:ln/>
        </p:spPr>
      </p:sp>
      <p:sp>
        <p:nvSpPr>
          <p:cNvPr id="8" name="Text 6"/>
          <p:cNvSpPr/>
          <p:nvPr/>
        </p:nvSpPr>
        <p:spPr>
          <a:xfrm>
            <a:off x="978408" y="15544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8745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接听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167128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接听报警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获取基本信息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 &amp; 联系方式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7088" y="2034540"/>
            <a:ext cx="182880" cy="27432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2011680" y="1417320"/>
            <a:ext cx="137160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532888" y="1554480"/>
            <a:ext cx="329184" cy="329184"/>
          </a:xfrm>
          <a:prstGeom prst="ellipse">
            <a:avLst/>
          </a:prstGeom>
          <a:solidFill>
            <a:srgbClr val="E53E3E"/>
          </a:solidFill>
          <a:ln/>
        </p:spPr>
      </p:sp>
      <p:sp>
        <p:nvSpPr>
          <p:cNvPr id="14" name="Text 11"/>
          <p:cNvSpPr/>
          <p:nvPr/>
        </p:nvSpPr>
        <p:spPr>
          <a:xfrm>
            <a:off x="2532888" y="15544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2011680" y="18745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103120" y="2167128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判断事件类型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确定主诉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紧急程度初筛</a:t>
            </a:r>
            <a:endParaRPr lang="en-US" sz="9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1568" y="2034540"/>
            <a:ext cx="182880" cy="27432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3566160" y="1417320"/>
            <a:ext cx="137160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087368" y="1554480"/>
            <a:ext cx="329184" cy="329184"/>
          </a:xfrm>
          <a:prstGeom prst="ellipse">
            <a:avLst/>
          </a:prstGeom>
          <a:solidFill>
            <a:srgbClr val="E53E3E"/>
          </a:solidFill>
          <a:ln/>
        </p:spPr>
      </p:sp>
      <p:sp>
        <p:nvSpPr>
          <p:cNvPr id="20" name="Text 16"/>
          <p:cNvSpPr/>
          <p:nvPr/>
        </p:nvSpPr>
        <p:spPr>
          <a:xfrm>
            <a:off x="4087368" y="15544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3566160" y="18745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3657600" y="2167128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询问关键信息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获取详细病情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MPDS 逐项问询</a:t>
            </a:r>
            <a:endParaRPr lang="en-US" sz="9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048" y="2034540"/>
            <a:ext cx="182880" cy="274320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5120640" y="1417320"/>
            <a:ext cx="137160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5641848" y="1554480"/>
            <a:ext cx="329184" cy="329184"/>
          </a:xfrm>
          <a:prstGeom prst="ellipse">
            <a:avLst/>
          </a:prstGeom>
          <a:solidFill>
            <a:srgbClr val="E53E3E"/>
          </a:solidFill>
          <a:ln/>
        </p:spPr>
      </p:sp>
      <p:sp>
        <p:nvSpPr>
          <p:cNvPr id="26" name="Text 21"/>
          <p:cNvSpPr/>
          <p:nvPr/>
        </p:nvSpPr>
        <p:spPr>
          <a:xfrm>
            <a:off x="5641848" y="15544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5120640" y="18745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意识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5212080" y="2167128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评估意识状态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判断生命体征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确定反应等级</a:t>
            </a:r>
            <a:endParaRPr lang="en-US" sz="90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528" y="2034540"/>
            <a:ext cx="182880" cy="274320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6675120" y="1417320"/>
            <a:ext cx="137160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7196328" y="1554480"/>
            <a:ext cx="329184" cy="329184"/>
          </a:xfrm>
          <a:prstGeom prst="ellipse">
            <a:avLst/>
          </a:prstGeom>
          <a:solidFill>
            <a:srgbClr val="E53E3E"/>
          </a:solidFill>
          <a:ln/>
        </p:spPr>
      </p:sp>
      <p:sp>
        <p:nvSpPr>
          <p:cNvPr id="32" name="Text 26"/>
          <p:cNvSpPr/>
          <p:nvPr/>
        </p:nvSpPr>
        <p:spPr>
          <a:xfrm>
            <a:off x="7196328" y="15544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27"/>
          <p:cNvSpPr/>
          <p:nvPr/>
        </p:nvSpPr>
        <p:spPr>
          <a:xfrm>
            <a:off x="6675120" y="18745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派车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6766560" y="2167128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分诊判定派车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电话急救指导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完成调度闭环</a:t>
            </a:r>
            <a:endParaRPr lang="en-US" sz="900" dirty="0"/>
          </a:p>
        </p:txBody>
      </p:sp>
      <p:sp>
        <p:nvSpPr>
          <p:cNvPr id="35" name="Shape 29"/>
          <p:cNvSpPr/>
          <p:nvPr/>
        </p:nvSpPr>
        <p:spPr>
          <a:xfrm>
            <a:off x="548640" y="3246120"/>
            <a:ext cx="8046720" cy="4114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6" name="Text 30"/>
          <p:cNvSpPr/>
          <p:nvPr/>
        </p:nvSpPr>
        <p:spPr>
          <a:xfrm>
            <a:off x="731520" y="324612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步问询 + TTS 语音模拟 + 压力值机制 = 沉浸式调度训练体验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功能矩阵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六大核心模块构建完整调度训练闭环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987552"/>
            <a:ext cx="548640" cy="36576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417320"/>
            <a:ext cx="24231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417320"/>
            <a:ext cx="2423160" cy="4572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600200"/>
            <a:ext cx="320040" cy="320040"/>
          </a:xfrm>
          <a:prstGeom prst="ellipse">
            <a:avLst/>
          </a:prstGeom>
          <a:solidFill>
            <a:srgbClr val="E53E3E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1655064"/>
            <a:ext cx="210312" cy="2103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51560" y="1554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来电压力系统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201168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来电者情绪紧张度动态变化，影响问询质量，模拟真实通话张力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383280" y="1417320"/>
            <a:ext cx="24231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383280" y="1417320"/>
            <a:ext cx="2423160" cy="4572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4" name="Shape 11"/>
          <p:cNvSpPr/>
          <p:nvPr/>
        </p:nvSpPr>
        <p:spPr>
          <a:xfrm>
            <a:off x="3520440" y="1600200"/>
            <a:ext cx="320040" cy="320040"/>
          </a:xfrm>
          <a:prstGeom prst="ellipse">
            <a:avLst/>
          </a:prstGeom>
          <a:solidFill>
            <a:srgbClr val="E53E3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304" y="1655064"/>
            <a:ext cx="210312" cy="21031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931920" y="1554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MPDS 调度卡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520440" y="201168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 Terminal 风格的调度决策卡片，辅助分诊判定与资源调度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6263640" y="1417320"/>
            <a:ext cx="24231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263640" y="1417320"/>
            <a:ext cx="2423160" cy="4572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20" name="Shape 16"/>
          <p:cNvSpPr/>
          <p:nvPr/>
        </p:nvSpPr>
        <p:spPr>
          <a:xfrm>
            <a:off x="6400800" y="1600200"/>
            <a:ext cx="320040" cy="320040"/>
          </a:xfrm>
          <a:prstGeom prst="ellipse">
            <a:avLst/>
          </a:prstGeom>
          <a:solidFill>
            <a:srgbClr val="E53E3E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664" y="1655064"/>
            <a:ext cx="210312" cy="21031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812280" y="1554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多车派车系统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6400800" y="201168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辆差异化救护车管理，根据病情分级智能匹配最优派车方案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502920" y="3291840"/>
            <a:ext cx="24231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502920" y="3291840"/>
            <a:ext cx="2423160" cy="4572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26" name="Shape 21"/>
          <p:cNvSpPr/>
          <p:nvPr/>
        </p:nvSpPr>
        <p:spPr>
          <a:xfrm>
            <a:off x="640080" y="3474720"/>
            <a:ext cx="320040" cy="320040"/>
          </a:xfrm>
          <a:prstGeom prst="ellipse">
            <a:avLst/>
          </a:prstGeom>
          <a:solidFill>
            <a:srgbClr val="E53E3E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3529584"/>
            <a:ext cx="210312" cy="21031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051560" y="34290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急救指导小游戏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640080" y="388620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种互动式电话急救指导（CPR、止血、海姆立克等）增强操作记忆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3383280" y="3291840"/>
            <a:ext cx="24231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3383280" y="3291840"/>
            <a:ext cx="2423160" cy="4572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32" name="Shape 26"/>
          <p:cNvSpPr/>
          <p:nvPr/>
        </p:nvSpPr>
        <p:spPr>
          <a:xfrm>
            <a:off x="3520440" y="3474720"/>
            <a:ext cx="320040" cy="320040"/>
          </a:xfrm>
          <a:prstGeom prst="ellipse">
            <a:avLst/>
          </a:prstGeom>
          <a:solidFill>
            <a:srgbClr val="E53E3E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5304" y="3529584"/>
            <a:ext cx="210312" cy="210312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3931920" y="34290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五维评分系统</a:t>
            </a:r>
            <a:endParaRPr lang="en-US" sz="1300" dirty="0"/>
          </a:p>
        </p:txBody>
      </p:sp>
      <p:sp>
        <p:nvSpPr>
          <p:cNvPr id="35" name="Text 28"/>
          <p:cNvSpPr/>
          <p:nvPr/>
        </p:nvSpPr>
        <p:spPr>
          <a:xfrm>
            <a:off x="3520440" y="388620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覆盖问询质量、分诊准确度、派车时效、指导完成度、综合表现的评分体系</a:t>
            </a:r>
            <a:endParaRPr lang="en-US" sz="900" dirty="0"/>
          </a:p>
        </p:txBody>
      </p:sp>
      <p:sp>
        <p:nvSpPr>
          <p:cNvPr id="36" name="Shape 29"/>
          <p:cNvSpPr/>
          <p:nvPr/>
        </p:nvSpPr>
        <p:spPr>
          <a:xfrm>
            <a:off x="6263640" y="3291840"/>
            <a:ext cx="24231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6263640" y="3291840"/>
            <a:ext cx="2423160" cy="4572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38" name="Shape 31"/>
          <p:cNvSpPr/>
          <p:nvPr/>
        </p:nvSpPr>
        <p:spPr>
          <a:xfrm>
            <a:off x="6400800" y="3474720"/>
            <a:ext cx="320040" cy="320040"/>
          </a:xfrm>
          <a:prstGeom prst="ellipse">
            <a:avLst/>
          </a:prstGeom>
          <a:solidFill>
            <a:srgbClr val="E53E3E"/>
          </a:solidFill>
          <a:ln/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5664" y="3529584"/>
            <a:ext cx="210312" cy="210312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6812280" y="34290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Roguelike 技能</a:t>
            </a:r>
            <a:endParaRPr lang="en-US" sz="1300" dirty="0"/>
          </a:p>
        </p:txBody>
      </p:sp>
      <p:sp>
        <p:nvSpPr>
          <p:cNvPr id="41" name="Text 33"/>
          <p:cNvSpPr/>
          <p:nvPr/>
        </p:nvSpPr>
        <p:spPr>
          <a:xfrm>
            <a:off x="6400800" y="388620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类技能卡（冷静/专业/效率/急救），千层塔式深度与多结局解锁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现代化技术栈打造高性能调度模拟系统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987552"/>
            <a:ext cx="548640" cy="36576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417320"/>
            <a:ext cx="2286000" cy="10515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12700" dir="810000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417320"/>
            <a:ext cx="54864" cy="10515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4904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表现层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17830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19 + TypeScript 5.8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Vite 6 + CSS Design Tokens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Leaflet 地图 + TTS 语音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2606040"/>
            <a:ext cx="2286000" cy="10515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12700" dir="81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606040"/>
            <a:ext cx="54864" cy="105156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6791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3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29718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单向数据流 + Reducer 模式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薄调度层设计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 × 32 场景角色矩阵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2286000" cy="10515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12700" dir="81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794760"/>
            <a:ext cx="54864" cy="105156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8679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6C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数据层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41605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Context 状态管理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localStorage 持久化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JSON 驱动的场景/角色配置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371600" y="2468880"/>
            <a:ext cx="6400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C0"/>
                </a:solidFill>
              </a:rPr>
              <a:t>▼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371600" y="3657600"/>
            <a:ext cx="6400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C0"/>
                </a:solidFill>
              </a:rPr>
              <a:t>▼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0" y="1417320"/>
            <a:ext cx="3657600" cy="3429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0" y="15270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技术栈全景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0" y="1874520"/>
            <a:ext cx="914400" cy="27432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23" name="Shape 21"/>
          <p:cNvSpPr/>
          <p:nvPr/>
        </p:nvSpPr>
        <p:spPr>
          <a:xfrm>
            <a:off x="5303520" y="2057400"/>
            <a:ext cx="960120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4" name="Text 22"/>
          <p:cNvSpPr/>
          <p:nvPr/>
        </p:nvSpPr>
        <p:spPr>
          <a:xfrm>
            <a:off x="5303520" y="2057400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19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00800" y="2057400"/>
            <a:ext cx="960120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2057400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TypeScript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498080" y="2057400"/>
            <a:ext cx="960120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8" name="Text 26"/>
          <p:cNvSpPr/>
          <p:nvPr/>
        </p:nvSpPr>
        <p:spPr>
          <a:xfrm>
            <a:off x="7498080" y="2057400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Vite 6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303520" y="2569464"/>
            <a:ext cx="960120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0" name="Text 28"/>
          <p:cNvSpPr/>
          <p:nvPr/>
        </p:nvSpPr>
        <p:spPr>
          <a:xfrm>
            <a:off x="5303520" y="2569464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Leaflet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400800" y="2569464"/>
            <a:ext cx="960120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0" y="2569464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TTS 火山引擎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0" y="2569464"/>
            <a:ext cx="960120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4" name="Text 32"/>
          <p:cNvSpPr/>
          <p:nvPr/>
        </p:nvSpPr>
        <p:spPr>
          <a:xfrm>
            <a:off x="7498080" y="2569464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MPDS 协议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303520" y="3081528"/>
            <a:ext cx="960120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6" name="Text 34"/>
          <p:cNvSpPr/>
          <p:nvPr/>
        </p:nvSpPr>
        <p:spPr>
          <a:xfrm>
            <a:off x="5303520" y="3081528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Reducer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400800" y="3081528"/>
            <a:ext cx="960120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0" y="3081528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能力卡系统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498080" y="3081528"/>
            <a:ext cx="960120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0" name="Text 38"/>
          <p:cNvSpPr/>
          <p:nvPr/>
        </p:nvSpPr>
        <p:spPr>
          <a:xfrm>
            <a:off x="7498080" y="3081528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压力值引擎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创新亮点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三大核心优势构筑产品壁垒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987552"/>
            <a:ext cx="548640" cy="36576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463040"/>
            <a:ext cx="24688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463040"/>
            <a:ext cx="2468880" cy="54864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8" name="Shape 6"/>
          <p:cNvSpPr/>
          <p:nvPr/>
        </p:nvSpPr>
        <p:spPr>
          <a:xfrm>
            <a:off x="1527048" y="1691640"/>
            <a:ext cx="512064" cy="512064"/>
          </a:xfrm>
          <a:prstGeom prst="ellipse">
            <a:avLst/>
          </a:prstGeom>
          <a:solidFill>
            <a:srgbClr val="E53E3E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1764792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1520" y="22860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MPDS 标准还原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31520" y="274320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基于国际 MPDS 协议精简设计，33 种急救场景覆盖 95%+ 日常呼救类型，学员在模拟中掌握标准调度流程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91840" y="1463040"/>
            <a:ext cx="24688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91840" y="1463040"/>
            <a:ext cx="2468880" cy="54864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4" name="Shape 11"/>
          <p:cNvSpPr/>
          <p:nvPr/>
        </p:nvSpPr>
        <p:spPr>
          <a:xfrm>
            <a:off x="4270248" y="1691640"/>
            <a:ext cx="512064" cy="512064"/>
          </a:xfrm>
          <a:prstGeom prst="ellipse">
            <a:avLst/>
          </a:prstGeom>
          <a:solidFill>
            <a:srgbClr val="E53E3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764792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474720" y="22860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驱动语音模拟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3474720" y="274320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火山引擎 TTS 技术驱动 32 种来电者角色交互，压力值动态调节问询难度，还原真实通话的紧张氛围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035040" y="1463040"/>
            <a:ext cx="24688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035040" y="1463040"/>
            <a:ext cx="2468880" cy="54864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20" name="Shape 16"/>
          <p:cNvSpPr/>
          <p:nvPr/>
        </p:nvSpPr>
        <p:spPr>
          <a:xfrm>
            <a:off x="7013448" y="1691640"/>
            <a:ext cx="512064" cy="512064"/>
          </a:xfrm>
          <a:prstGeom prst="ellipse">
            <a:avLst/>
          </a:prstGeom>
          <a:solidFill>
            <a:srgbClr val="E53E3E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764792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217920" y="22860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游戏化急救指导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6217920" y="274320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种互动式急救指导小游戏（CPR/止血/海姆立克法），技能成长与多结局，激励反复练习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未来规划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清晰分阶段的演进路线图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987552"/>
            <a:ext cx="548640" cy="36576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103120"/>
            <a:ext cx="7315200" cy="36576"/>
          </a:xfrm>
          <a:prstGeom prst="rect">
            <a:avLst/>
          </a:prstGeom>
          <a:solidFill>
            <a:srgbClr val="A0AEC0"/>
          </a:solidFill>
          <a:ln/>
        </p:spPr>
      </p:sp>
      <p:sp>
        <p:nvSpPr>
          <p:cNvPr id="7" name="Shape 5"/>
          <p:cNvSpPr/>
          <p:nvPr/>
        </p:nvSpPr>
        <p:spPr>
          <a:xfrm>
            <a:off x="1563624" y="1984248"/>
            <a:ext cx="256032" cy="256032"/>
          </a:xfrm>
          <a:prstGeom prst="ellipse">
            <a:avLst/>
          </a:prstGeom>
          <a:solidFill>
            <a:srgbClr val="E53E3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6459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3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 H2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24688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423160"/>
            <a:ext cx="2468880" cy="36576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5146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近期目标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288036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完善 33 个 MPDS 场景覆盖</a:t>
            </a:r>
            <a:endParaRPr lang="en-US" sz="9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 TTS 语音交互体验</a:t>
            </a:r>
            <a:endParaRPr lang="en-US" sz="9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新增多语言场景支持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215384" y="1984248"/>
            <a:ext cx="256032" cy="256032"/>
          </a:xfrm>
          <a:prstGeom prst="ellipse">
            <a:avLst/>
          </a:prstGeom>
          <a:solidFill>
            <a:srgbClr val="E53E3E"/>
          </a:solidFill>
          <a:ln/>
        </p:spPr>
      </p:sp>
      <p:sp>
        <p:nvSpPr>
          <p:cNvPr id="14" name="Text 12"/>
          <p:cNvSpPr/>
          <p:nvPr/>
        </p:nvSpPr>
        <p:spPr>
          <a:xfrm>
            <a:off x="3108960" y="16459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3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108960" y="2423160"/>
            <a:ext cx="24688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08960" y="2423160"/>
            <a:ext cx="2468880" cy="36576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7" name="Text 15"/>
          <p:cNvSpPr/>
          <p:nvPr/>
        </p:nvSpPr>
        <p:spPr>
          <a:xfrm>
            <a:off x="3246120" y="25146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中期目标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46120" y="288036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智能评分系统升级（AI 分析）</a:t>
            </a:r>
            <a:endParaRPr lang="en-US" sz="9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多人协作调度模拟模式</a:t>
            </a:r>
            <a:endParaRPr lang="en-US" sz="9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 SDK 对接真实培训系统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67144" y="1984248"/>
            <a:ext cx="256032" cy="256032"/>
          </a:xfrm>
          <a:prstGeom prst="ellipse">
            <a:avLst/>
          </a:prstGeom>
          <a:solidFill>
            <a:srgbClr val="E53E3E"/>
          </a:solidFill>
          <a:ln/>
        </p:spPr>
      </p:sp>
      <p:sp>
        <p:nvSpPr>
          <p:cNvPr id="20" name="Text 18"/>
          <p:cNvSpPr/>
          <p:nvPr/>
        </p:nvSpPr>
        <p:spPr>
          <a:xfrm>
            <a:off x="5760720" y="16459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3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2027+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760720" y="2423160"/>
            <a:ext cx="24688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760720" y="2423160"/>
            <a:ext cx="2468880" cy="36576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23" name="Text 21"/>
          <p:cNvSpPr/>
          <p:nvPr/>
        </p:nvSpPr>
        <p:spPr>
          <a:xfrm>
            <a:off x="5897880" y="25146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远期目标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897880" y="288036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VR/AR 沉浸式调度训练</a:t>
            </a:r>
            <a:endParaRPr lang="en-US" sz="9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全国院前急救数据平台</a:t>
            </a:r>
            <a:endParaRPr lang="en-US" sz="9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国际化推广与合作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44348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从模拟训练到智能调度，持续推动急救教育数字化转型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53E3E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371600" y="25603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53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“用技术守护每一次生命呼叫”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474720" y="3200400"/>
            <a:ext cx="2194560" cy="36576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4747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120 调度台 · 急救调度模拟训练系统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BuddyGame 开发团队  |  敬请期待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53E3E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120 调度台 — 急救调度模拟训练系统</dc:title>
  <dc:subject>BuddyGame 路演汇报</dc:subject>
  <dc:creator>BuddyGame Team</dc:creator>
  <cp:lastModifiedBy>BuddyGame Team</cp:lastModifiedBy>
  <cp:revision>1</cp:revision>
  <dcterms:created xsi:type="dcterms:W3CDTF">2026-07-15T02:05:55Z</dcterms:created>
  <dcterms:modified xsi:type="dcterms:W3CDTF">2026-07-15T02:05:55Z</dcterms:modified>
</cp:coreProperties>
</file>